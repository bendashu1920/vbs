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7" r:id="rId7"/>
    <p:sldId id="261" r:id="rId8"/>
    <p:sldId id="268" r:id="rId9"/>
    <p:sldId id="269" r:id="rId10"/>
    <p:sldId id="270" r:id="rId11"/>
    <p:sldId id="263" r:id="rId12"/>
    <p:sldId id="265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feature_extraction.text.HashingVectorizer.html#sklearn.feature_extraction.text.HashingVectorizer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feature_extraction.text.HashingVectorizer.html#sklearn.feature_extraction.text.HashingVectoriz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09F4D-6E30-4E4F-97AC-8E174393F5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zh-CN" altLang="en-US" dirty="0"/>
              <a:t>日常算法应用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14B0C6-8134-4E5F-AA95-CA47B756E3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2020.12.21 </a:t>
            </a:r>
            <a:r>
              <a:rPr lang="zh-CN" altLang="en-US" dirty="0"/>
              <a:t>余鑫</a:t>
            </a:r>
          </a:p>
        </p:txBody>
      </p:sp>
    </p:spTree>
    <p:extLst>
      <p:ext uri="{BB962C8B-B14F-4D97-AF65-F5344CB8AC3E}">
        <p14:creationId xmlns:p14="http://schemas.microsoft.com/office/powerpoint/2010/main" val="2796576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9761A-6169-46EF-94D5-98A20F16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二分搜索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BC6B93-E3D0-409A-8AC0-A4642E6AE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1.1 </a:t>
            </a:r>
            <a:r>
              <a:rPr lang="zh-CN" altLang="en-US" sz="2400" dirty="0"/>
              <a:t>二分搜索的思想</a:t>
            </a:r>
            <a:endParaRPr lang="en-US" altLang="zh-CN" sz="2400" dirty="0"/>
          </a:p>
          <a:p>
            <a:r>
              <a:rPr lang="en-US" altLang="zh-CN" sz="2400" dirty="0"/>
              <a:t>1.2 </a:t>
            </a:r>
            <a:r>
              <a:rPr lang="zh-CN" altLang="en-US" sz="2400" dirty="0"/>
              <a:t>二分搜索的条件与流程</a:t>
            </a:r>
            <a:endParaRPr lang="en-US" altLang="zh-CN" sz="2400" dirty="0"/>
          </a:p>
          <a:p>
            <a:r>
              <a:rPr lang="en-US" altLang="zh-CN" sz="2400" dirty="0"/>
              <a:t>1.3 </a:t>
            </a:r>
            <a:r>
              <a:rPr lang="zh-CN" altLang="en-US" sz="2400" dirty="0"/>
              <a:t>二分搜索的应用</a:t>
            </a:r>
          </a:p>
        </p:txBody>
      </p:sp>
    </p:spTree>
    <p:extLst>
      <p:ext uri="{BB962C8B-B14F-4D97-AF65-F5344CB8AC3E}">
        <p14:creationId xmlns:p14="http://schemas.microsoft.com/office/powerpoint/2010/main" val="262423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二分搜索的思想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dirty="0"/>
              <a:t>二分搜索的基本概念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在一个</a:t>
            </a:r>
            <a:r>
              <a:rPr lang="zh-CN" altLang="en-US" sz="2800" dirty="0">
                <a:solidFill>
                  <a:srgbClr val="FF0000"/>
                </a:solidFill>
              </a:rPr>
              <a:t>有序数组</a:t>
            </a:r>
            <a:r>
              <a:rPr lang="zh-CN" altLang="en-US" sz="2800" dirty="0"/>
              <a:t>中查找</a:t>
            </a:r>
            <a:r>
              <a:rPr lang="zh-CN" altLang="en-US" sz="2800" dirty="0">
                <a:solidFill>
                  <a:srgbClr val="FF0000"/>
                </a:solidFill>
              </a:rPr>
              <a:t>指定元素</a:t>
            </a:r>
            <a:r>
              <a:rPr lang="zh-CN" altLang="en-US" sz="2800" dirty="0"/>
              <a:t>的搜索算法，也称</a:t>
            </a:r>
            <a:r>
              <a:rPr lang="zh-CN" altLang="en-US" sz="2800" dirty="0">
                <a:solidFill>
                  <a:srgbClr val="FF0000"/>
                </a:solidFill>
              </a:rPr>
              <a:t>折半查找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搜索过程中从数组的</a:t>
            </a:r>
            <a:r>
              <a:rPr lang="zh-CN" altLang="en-US" sz="2800" dirty="0">
                <a:solidFill>
                  <a:srgbClr val="FF0000"/>
                </a:solidFill>
              </a:rPr>
              <a:t>中间元素</a:t>
            </a:r>
            <a:r>
              <a:rPr lang="zh-CN" altLang="en-US" sz="2800" dirty="0"/>
              <a:t>开始，中间元素</a:t>
            </a:r>
            <a:r>
              <a:rPr lang="zh-CN" altLang="en-US" sz="2800" dirty="0">
                <a:solidFill>
                  <a:srgbClr val="FF0000"/>
                </a:solidFill>
              </a:rPr>
              <a:t>恰好是搜索元素</a:t>
            </a:r>
            <a:r>
              <a:rPr lang="zh-CN" altLang="en-US" sz="2800" dirty="0"/>
              <a:t>，则搜索结束：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如果特定元素</a:t>
            </a:r>
            <a:r>
              <a:rPr lang="zh-CN" altLang="en-US" sz="2800" dirty="0">
                <a:solidFill>
                  <a:srgbClr val="FF0000"/>
                </a:solidFill>
              </a:rPr>
              <a:t>大于或小于</a:t>
            </a:r>
            <a:r>
              <a:rPr lang="zh-CN" altLang="en-US" sz="2800" dirty="0"/>
              <a:t>中间元素，就从</a:t>
            </a:r>
            <a:r>
              <a:rPr lang="zh-CN" altLang="en-US" sz="2800" dirty="0">
                <a:solidFill>
                  <a:srgbClr val="FF0000"/>
                </a:solidFill>
              </a:rPr>
              <a:t>特定元素在的那一半</a:t>
            </a:r>
            <a:r>
              <a:rPr lang="zh-CN" altLang="en-US" sz="2800" dirty="0"/>
              <a:t>查找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09379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二分搜索的条件与流程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431689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二分搜索的条件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A.</a:t>
            </a:r>
            <a:r>
              <a:rPr lang="zh-CN" altLang="en-US" sz="2800" dirty="0"/>
              <a:t>数组为</a:t>
            </a:r>
            <a:r>
              <a:rPr lang="zh-CN" altLang="en-US" sz="2800" dirty="0">
                <a:solidFill>
                  <a:srgbClr val="FF0000"/>
                </a:solidFill>
              </a:rPr>
              <a:t>有序</a:t>
            </a:r>
            <a:r>
              <a:rPr lang="zh-CN" altLang="en-US" sz="2800" dirty="0"/>
              <a:t>的；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B.</a:t>
            </a:r>
            <a:r>
              <a:rPr lang="zh-CN" altLang="en-US" sz="2800" dirty="0"/>
              <a:t>该元素</a:t>
            </a:r>
            <a:r>
              <a:rPr lang="zh-CN" altLang="en-US" sz="2800" dirty="0">
                <a:solidFill>
                  <a:srgbClr val="FF0000"/>
                </a:solidFill>
              </a:rPr>
              <a:t>在数组中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比如在</a:t>
            </a:r>
            <a:r>
              <a:rPr lang="en-US" altLang="zh-CN" sz="2800" dirty="0"/>
              <a:t>Python</a:t>
            </a:r>
            <a:r>
              <a:rPr lang="zh-CN" altLang="en-US" sz="2800" dirty="0"/>
              <a:t>数组 </a:t>
            </a:r>
            <a:r>
              <a:rPr lang="en-US" altLang="zh-CN" sz="2800" dirty="0"/>
              <a:t>[1, 2, 3, 4, 5, 6, 7]</a:t>
            </a:r>
            <a:r>
              <a:rPr lang="zh-CN" altLang="en-US" sz="2800" dirty="0"/>
              <a:t>中查找</a:t>
            </a:r>
            <a:r>
              <a:rPr lang="en-US" altLang="zh-CN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41951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二分搜索的条件与流程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1541"/>
            <a:ext cx="8596668" cy="5034013"/>
          </a:xfrm>
        </p:spPr>
        <p:txBody>
          <a:bodyPr>
            <a:normAutofit fontScale="55000" lnSpcReduction="20000"/>
          </a:bodyPr>
          <a:lstStyle/>
          <a:p>
            <a:r>
              <a:rPr lang="zh-CN" altLang="en-US" sz="5100" dirty="0"/>
              <a:t>二分搜索的流程</a:t>
            </a:r>
            <a:r>
              <a:rPr lang="en-US" altLang="zh-CN" sz="5100" dirty="0"/>
              <a:t>(wiki</a:t>
            </a:r>
            <a:r>
              <a:rPr lang="zh-CN" altLang="en-US" sz="5100" dirty="0"/>
              <a:t>上的</a:t>
            </a:r>
            <a:r>
              <a:rPr lang="zh-CN" altLang="en-US" sz="5100" dirty="0">
                <a:solidFill>
                  <a:srgbClr val="FF0000"/>
                </a:solidFill>
              </a:rPr>
              <a:t>递归实现</a:t>
            </a:r>
            <a:r>
              <a:rPr lang="en-US" altLang="zh-CN" sz="5100" dirty="0"/>
              <a:t>)</a:t>
            </a:r>
          </a:p>
          <a:p>
            <a:pPr marL="0" indent="0">
              <a:buNone/>
            </a:pPr>
            <a:r>
              <a:rPr lang="en-US" altLang="zh-CN" sz="4000" dirty="0"/>
              <a:t>public static int </a:t>
            </a:r>
            <a:r>
              <a:rPr lang="en-US" altLang="zh-CN" sz="4000" dirty="0" err="1"/>
              <a:t>binarySearch</a:t>
            </a:r>
            <a:r>
              <a:rPr lang="en-US" altLang="zh-CN" sz="4000" dirty="0"/>
              <a:t>(int[] </a:t>
            </a:r>
            <a:r>
              <a:rPr lang="en-US" altLang="zh-CN" sz="4000" dirty="0" err="1"/>
              <a:t>arr</a:t>
            </a:r>
            <a:r>
              <a:rPr lang="en-US" altLang="zh-CN" sz="4000" dirty="0"/>
              <a:t>, int start, int end, int </a:t>
            </a:r>
            <a:r>
              <a:rPr lang="en-US" altLang="zh-CN" sz="4000" dirty="0" err="1"/>
              <a:t>hkey</a:t>
            </a:r>
            <a:r>
              <a:rPr lang="en-US" altLang="zh-CN" sz="4000" dirty="0"/>
              <a:t>){</a:t>
            </a:r>
          </a:p>
          <a:p>
            <a:pPr marL="0" indent="0">
              <a:buNone/>
            </a:pPr>
            <a:r>
              <a:rPr lang="en-US" altLang="zh-CN" sz="4000" dirty="0"/>
              <a:t>    if (start &gt; end)</a:t>
            </a:r>
          </a:p>
          <a:p>
            <a:pPr marL="0" indent="0">
              <a:buNone/>
            </a:pPr>
            <a:r>
              <a:rPr lang="en-US" altLang="zh-CN" sz="4000" dirty="0"/>
              <a:t>        return -1;</a:t>
            </a:r>
          </a:p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r>
              <a:rPr lang="en-US" altLang="zh-CN" sz="4000" dirty="0"/>
              <a:t>    int mid = start + (end - start)/2;    //</a:t>
            </a:r>
            <a:r>
              <a:rPr lang="zh-CN" altLang="en-US" sz="4000" dirty="0"/>
              <a:t>防止溢位</a:t>
            </a:r>
          </a:p>
          <a:p>
            <a:pPr marL="0" indent="0">
              <a:buNone/>
            </a:pPr>
            <a:r>
              <a:rPr lang="zh-CN" altLang="en-US" sz="4000" dirty="0"/>
              <a:t>    </a:t>
            </a:r>
            <a:r>
              <a:rPr lang="en-US" altLang="zh-CN" sz="4000" dirty="0"/>
              <a:t>if (</a:t>
            </a:r>
            <a:r>
              <a:rPr lang="en-US" altLang="zh-CN" sz="4000" dirty="0" err="1"/>
              <a:t>arr</a:t>
            </a:r>
            <a:r>
              <a:rPr lang="en-US" altLang="zh-CN" sz="4000" dirty="0"/>
              <a:t>[mid] &gt; </a:t>
            </a:r>
            <a:r>
              <a:rPr lang="en-US" altLang="zh-CN" sz="4000" dirty="0" err="1"/>
              <a:t>hkey</a:t>
            </a:r>
            <a:r>
              <a:rPr lang="en-US" altLang="zh-CN" sz="4000" dirty="0"/>
              <a:t>)</a:t>
            </a:r>
          </a:p>
          <a:p>
            <a:pPr marL="0" indent="0">
              <a:buNone/>
            </a:pPr>
            <a:r>
              <a:rPr lang="en-US" altLang="zh-CN" sz="4000" dirty="0"/>
              <a:t>        return </a:t>
            </a:r>
            <a:r>
              <a:rPr lang="en-US" altLang="zh-CN" sz="4000" dirty="0" err="1"/>
              <a:t>binarySearch</a:t>
            </a:r>
            <a:r>
              <a:rPr lang="en-US" altLang="zh-CN" sz="4000" dirty="0"/>
              <a:t>(</a:t>
            </a:r>
            <a:r>
              <a:rPr lang="en-US" altLang="zh-CN" sz="4000" dirty="0" err="1"/>
              <a:t>arr</a:t>
            </a:r>
            <a:r>
              <a:rPr lang="en-US" altLang="zh-CN" sz="4000" dirty="0"/>
              <a:t>, start, mid - 1, </a:t>
            </a:r>
            <a:r>
              <a:rPr lang="en-US" altLang="zh-CN" sz="4000" dirty="0" err="1"/>
              <a:t>hkey</a:t>
            </a:r>
            <a:r>
              <a:rPr lang="en-US" altLang="zh-CN" sz="4000" dirty="0"/>
              <a:t>);</a:t>
            </a:r>
          </a:p>
          <a:p>
            <a:pPr marL="0" indent="0">
              <a:buNone/>
            </a:pPr>
            <a:r>
              <a:rPr lang="en-US" altLang="zh-CN" sz="4000" dirty="0"/>
              <a:t>    if (</a:t>
            </a:r>
            <a:r>
              <a:rPr lang="en-US" altLang="zh-CN" sz="4000" dirty="0" err="1"/>
              <a:t>arr</a:t>
            </a:r>
            <a:r>
              <a:rPr lang="en-US" altLang="zh-CN" sz="4000" dirty="0"/>
              <a:t>[mid] &lt; </a:t>
            </a:r>
            <a:r>
              <a:rPr lang="en-US" altLang="zh-CN" sz="4000" dirty="0" err="1"/>
              <a:t>hkey</a:t>
            </a:r>
            <a:r>
              <a:rPr lang="en-US" altLang="zh-CN" sz="4000" dirty="0"/>
              <a:t>)</a:t>
            </a:r>
          </a:p>
          <a:p>
            <a:pPr marL="0" indent="0">
              <a:buNone/>
            </a:pPr>
            <a:r>
              <a:rPr lang="en-US" altLang="zh-CN" sz="4000" dirty="0"/>
              <a:t>        return </a:t>
            </a:r>
            <a:r>
              <a:rPr lang="en-US" altLang="zh-CN" sz="4000" dirty="0" err="1"/>
              <a:t>binarySearch</a:t>
            </a:r>
            <a:r>
              <a:rPr lang="en-US" altLang="zh-CN" sz="4000" dirty="0"/>
              <a:t>(</a:t>
            </a:r>
            <a:r>
              <a:rPr lang="en-US" altLang="zh-CN" sz="4000" dirty="0" err="1"/>
              <a:t>arr</a:t>
            </a:r>
            <a:r>
              <a:rPr lang="en-US" altLang="zh-CN" sz="4000" dirty="0"/>
              <a:t>, mid + 1, end, </a:t>
            </a:r>
            <a:r>
              <a:rPr lang="en-US" altLang="zh-CN" sz="4000" dirty="0" err="1"/>
              <a:t>hkey</a:t>
            </a:r>
            <a:r>
              <a:rPr lang="en-US" altLang="zh-CN" sz="4000" dirty="0"/>
              <a:t>);</a:t>
            </a:r>
          </a:p>
          <a:p>
            <a:pPr marL="0" indent="0">
              <a:buNone/>
            </a:pPr>
            <a:r>
              <a:rPr lang="en-US" altLang="zh-CN" sz="4000" dirty="0"/>
              <a:t>    return mid;  </a:t>
            </a:r>
          </a:p>
          <a:p>
            <a:pPr marL="0" indent="0">
              <a:buNone/>
            </a:pPr>
            <a:r>
              <a:rPr lang="en-US" altLang="zh-CN" sz="4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676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二分搜索的条件与流程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1541"/>
            <a:ext cx="8596668" cy="5255394"/>
          </a:xfrm>
        </p:spPr>
        <p:txBody>
          <a:bodyPr>
            <a:normAutofit fontScale="25000" lnSpcReduction="20000"/>
          </a:bodyPr>
          <a:lstStyle/>
          <a:p>
            <a:r>
              <a:rPr lang="zh-CN" altLang="en-US" sz="11200" dirty="0"/>
              <a:t>二分搜索的流程</a:t>
            </a:r>
            <a:r>
              <a:rPr lang="en-US" altLang="zh-CN" sz="11200" dirty="0"/>
              <a:t>(wiki</a:t>
            </a:r>
            <a:r>
              <a:rPr lang="zh-CN" altLang="en-US" sz="11200" dirty="0"/>
              <a:t>上的</a:t>
            </a:r>
            <a:r>
              <a:rPr lang="zh-CN" altLang="en-US" sz="11200" dirty="0">
                <a:solidFill>
                  <a:srgbClr val="FF0000"/>
                </a:solidFill>
              </a:rPr>
              <a:t>循环实现</a:t>
            </a:r>
            <a:r>
              <a:rPr lang="en-US" altLang="zh-CN" sz="5100" dirty="0"/>
              <a:t>)</a:t>
            </a:r>
          </a:p>
          <a:p>
            <a:pPr marL="0" indent="0">
              <a:buNone/>
            </a:pPr>
            <a:r>
              <a:rPr lang="en-US" altLang="zh-CN" sz="8000" dirty="0"/>
              <a:t>public static int </a:t>
            </a:r>
            <a:r>
              <a:rPr lang="en-US" altLang="zh-CN" sz="8000" dirty="0" err="1"/>
              <a:t>binarySearch</a:t>
            </a:r>
            <a:r>
              <a:rPr lang="en-US" altLang="zh-CN" sz="8000" dirty="0"/>
              <a:t>(int[] </a:t>
            </a:r>
            <a:r>
              <a:rPr lang="en-US" altLang="zh-CN" sz="8000" dirty="0" err="1"/>
              <a:t>arr</a:t>
            </a:r>
            <a:r>
              <a:rPr lang="en-US" altLang="zh-CN" sz="8000" dirty="0"/>
              <a:t>, int start, int end, int </a:t>
            </a:r>
            <a:r>
              <a:rPr lang="en-US" altLang="zh-CN" sz="8000" dirty="0" err="1"/>
              <a:t>hkey</a:t>
            </a:r>
            <a:r>
              <a:rPr lang="en-US" altLang="zh-CN" sz="8000" dirty="0"/>
              <a:t>){</a:t>
            </a:r>
          </a:p>
          <a:p>
            <a:pPr marL="0" indent="0">
              <a:buNone/>
            </a:pPr>
            <a:r>
              <a:rPr lang="en-US" altLang="zh-CN" sz="8000" dirty="0"/>
              <a:t>    int result = -1;</a:t>
            </a:r>
          </a:p>
          <a:p>
            <a:pPr marL="0" indent="0">
              <a:buNone/>
            </a:pPr>
            <a:r>
              <a:rPr lang="en-US" altLang="zh-CN" sz="8000" dirty="0"/>
              <a:t>    while (start &lt;= end){</a:t>
            </a:r>
          </a:p>
          <a:p>
            <a:pPr marL="0" indent="0">
              <a:buNone/>
            </a:pPr>
            <a:r>
              <a:rPr lang="en-US" altLang="zh-CN" sz="8000" dirty="0"/>
              <a:t>        int mid = start + (end - start)/2;    //</a:t>
            </a:r>
            <a:r>
              <a:rPr lang="zh-CN" altLang="en-US" sz="8000" dirty="0"/>
              <a:t>防止溢位</a:t>
            </a:r>
          </a:p>
          <a:p>
            <a:pPr marL="0" indent="0">
              <a:buNone/>
            </a:pPr>
            <a:r>
              <a:rPr lang="zh-CN" altLang="en-US" sz="8000" dirty="0"/>
              <a:t>        </a:t>
            </a:r>
            <a:r>
              <a:rPr lang="en-US" altLang="zh-CN" sz="8000" dirty="0"/>
              <a:t>if (</a:t>
            </a:r>
            <a:r>
              <a:rPr lang="en-US" altLang="zh-CN" sz="8000" dirty="0" err="1"/>
              <a:t>arr</a:t>
            </a:r>
            <a:r>
              <a:rPr lang="en-US" altLang="zh-CN" sz="8000" dirty="0"/>
              <a:t>[mid] &gt; </a:t>
            </a:r>
            <a:r>
              <a:rPr lang="en-US" altLang="zh-CN" sz="8000" dirty="0" err="1"/>
              <a:t>hkey</a:t>
            </a:r>
            <a:r>
              <a:rPr lang="en-US" altLang="zh-CN" sz="8000" dirty="0"/>
              <a:t>)</a:t>
            </a:r>
          </a:p>
          <a:p>
            <a:pPr marL="0" indent="0">
              <a:buNone/>
            </a:pPr>
            <a:r>
              <a:rPr lang="en-US" altLang="zh-CN" sz="8000" dirty="0"/>
              <a:t>            end = mid - 1;</a:t>
            </a:r>
          </a:p>
          <a:p>
            <a:pPr marL="0" indent="0">
              <a:buNone/>
            </a:pPr>
            <a:r>
              <a:rPr lang="en-US" altLang="zh-CN" sz="8000" dirty="0"/>
              <a:t>        else if (</a:t>
            </a:r>
            <a:r>
              <a:rPr lang="en-US" altLang="zh-CN" sz="8000" dirty="0" err="1"/>
              <a:t>arr</a:t>
            </a:r>
            <a:r>
              <a:rPr lang="en-US" altLang="zh-CN" sz="8000" dirty="0"/>
              <a:t>[mid] &lt; </a:t>
            </a:r>
            <a:r>
              <a:rPr lang="en-US" altLang="zh-CN" sz="8000" dirty="0" err="1"/>
              <a:t>hkey</a:t>
            </a:r>
            <a:r>
              <a:rPr lang="en-US" altLang="zh-CN" sz="8000" dirty="0"/>
              <a:t>)</a:t>
            </a:r>
          </a:p>
          <a:p>
            <a:pPr marL="0" indent="0">
              <a:buNone/>
            </a:pPr>
            <a:r>
              <a:rPr lang="en-US" altLang="zh-CN" sz="8000" dirty="0"/>
              <a:t>            start = mid + 1;</a:t>
            </a:r>
          </a:p>
          <a:p>
            <a:pPr marL="0" indent="0">
              <a:buNone/>
            </a:pPr>
            <a:r>
              <a:rPr lang="en-US" altLang="zh-CN" sz="8000" dirty="0"/>
              <a:t>        else {</a:t>
            </a:r>
          </a:p>
          <a:p>
            <a:pPr marL="0" indent="0">
              <a:buNone/>
            </a:pPr>
            <a:r>
              <a:rPr lang="en-US" altLang="zh-CN" sz="8000" dirty="0"/>
              <a:t>            result = mid ;  </a:t>
            </a:r>
          </a:p>
          <a:p>
            <a:pPr marL="0" indent="0">
              <a:buNone/>
            </a:pPr>
            <a:r>
              <a:rPr lang="en-US" altLang="zh-CN" sz="8000" dirty="0"/>
              <a:t>            break;</a:t>
            </a:r>
          </a:p>
          <a:p>
            <a:pPr marL="0" indent="0">
              <a:buNone/>
            </a:pPr>
            <a:r>
              <a:rPr lang="en-US" altLang="zh-CN" sz="8000" dirty="0"/>
              <a:t>        }</a:t>
            </a:r>
          </a:p>
          <a:p>
            <a:pPr marL="0" indent="0">
              <a:buNone/>
            </a:pPr>
            <a:r>
              <a:rPr lang="en-US" altLang="zh-CN" sz="8000" dirty="0"/>
              <a:t>    }</a:t>
            </a:r>
          </a:p>
          <a:p>
            <a:pPr marL="0" indent="0">
              <a:buNone/>
            </a:pPr>
            <a:endParaRPr lang="en-US" altLang="zh-CN" sz="7200" dirty="0"/>
          </a:p>
          <a:p>
            <a:pPr marL="0" indent="0">
              <a:buNone/>
            </a:pPr>
            <a:r>
              <a:rPr lang="en-US" altLang="zh-CN" sz="7200" dirty="0"/>
              <a:t>    return result;</a:t>
            </a:r>
          </a:p>
          <a:p>
            <a:pPr marL="0" indent="0">
              <a:buNone/>
            </a:pPr>
            <a:r>
              <a:rPr lang="en-US" altLang="zh-CN" sz="7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1593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二分搜索的应用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21562"/>
            <a:ext cx="8596668" cy="4326838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简单应用</a:t>
            </a:r>
            <a:r>
              <a:rPr lang="en-US" altLang="zh-CN" sz="2800" dirty="0"/>
              <a:t>:GitHub</a:t>
            </a:r>
            <a:r>
              <a:rPr lang="zh-CN" altLang="en-US" sz="2800" dirty="0"/>
              <a:t>提交</a:t>
            </a:r>
            <a:r>
              <a:rPr lang="en-US" altLang="zh-CN" sz="2800" dirty="0"/>
              <a:t>issue</a:t>
            </a:r>
          </a:p>
          <a:p>
            <a:pPr marL="0" indent="0">
              <a:buNone/>
            </a:pPr>
            <a:endParaRPr lang="en-US" altLang="zh-CN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D3DE2D-632D-42D2-A0FC-FEC28AC10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657461"/>
            <a:ext cx="6312082" cy="331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84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二分搜索的应用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43271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800" dirty="0"/>
              <a:t>简单应用</a:t>
            </a:r>
            <a:r>
              <a:rPr lang="en-US" altLang="zh-CN" sz="2800" dirty="0"/>
              <a:t>:GitHub</a:t>
            </a:r>
            <a:r>
              <a:rPr lang="zh-CN" altLang="en-US" sz="2800" dirty="0"/>
              <a:t>提交</a:t>
            </a:r>
            <a:r>
              <a:rPr lang="en-US" altLang="zh-CN" sz="2800" dirty="0"/>
              <a:t>Bug</a:t>
            </a:r>
            <a:r>
              <a:rPr lang="zh-CN" altLang="en-US" sz="2800" dirty="0"/>
              <a:t>定位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假如在一次实际测试中发现</a:t>
            </a:r>
            <a:r>
              <a:rPr lang="zh-CN" altLang="en-US" sz="2800" dirty="0">
                <a:solidFill>
                  <a:srgbClr val="FF0000"/>
                </a:solidFill>
              </a:rPr>
              <a:t>当前代码库</a:t>
            </a:r>
            <a:r>
              <a:rPr lang="zh-CN" altLang="en-US" sz="2800" dirty="0"/>
              <a:t>存在一处代码</a:t>
            </a:r>
            <a:r>
              <a:rPr lang="en-US" altLang="zh-CN" sz="2800" dirty="0"/>
              <a:t>Bug</a:t>
            </a:r>
            <a:r>
              <a:rPr lang="zh-CN" altLang="en-US" sz="2800" dirty="0"/>
              <a:t>，而</a:t>
            </a:r>
            <a:r>
              <a:rPr lang="zh-CN" altLang="en-US" sz="2800" dirty="0">
                <a:solidFill>
                  <a:srgbClr val="FF0000"/>
                </a:solidFill>
              </a:rPr>
              <a:t>代码</a:t>
            </a:r>
            <a:r>
              <a:rPr lang="en-US" altLang="zh-CN" sz="2800" dirty="0">
                <a:solidFill>
                  <a:srgbClr val="FF0000"/>
                </a:solidFill>
              </a:rPr>
              <a:t>Bug</a:t>
            </a:r>
            <a:r>
              <a:rPr lang="zh-CN" altLang="en-US" sz="2800" dirty="0"/>
              <a:t>不是此次提交引入的，而最近的提交有</a:t>
            </a:r>
            <a:r>
              <a:rPr lang="en-US" altLang="zh-CN" sz="2800" dirty="0"/>
              <a:t>10</a:t>
            </a:r>
            <a:r>
              <a:rPr lang="zh-CN" altLang="en-US" sz="2800" dirty="0"/>
              <a:t>次</a:t>
            </a:r>
            <a:r>
              <a:rPr lang="en-US" altLang="zh-CN" sz="2800" dirty="0"/>
              <a:t>(</a:t>
            </a:r>
            <a:r>
              <a:rPr lang="zh-CN" altLang="en-US" sz="2800" dirty="0"/>
              <a:t>确定</a:t>
            </a:r>
            <a:r>
              <a:rPr lang="en-US" altLang="zh-CN" sz="2800" dirty="0"/>
              <a:t>Bug</a:t>
            </a:r>
            <a:r>
              <a:rPr lang="zh-CN" altLang="en-US" sz="2800" dirty="0"/>
              <a:t>由最近的提交引入</a:t>
            </a:r>
            <a:r>
              <a:rPr lang="en-US" altLang="zh-CN" sz="2800" dirty="0"/>
              <a:t>)</a:t>
            </a:r>
            <a:r>
              <a:rPr lang="zh-CN" altLang="en-US" sz="2800" dirty="0"/>
              <a:t>，且</a:t>
            </a:r>
            <a:r>
              <a:rPr lang="en-US" altLang="zh-CN" sz="2800" dirty="0"/>
              <a:t>10</a:t>
            </a:r>
            <a:r>
              <a:rPr lang="zh-CN" altLang="en-US" sz="2800" dirty="0"/>
              <a:t>次变更都是由</a:t>
            </a:r>
            <a:r>
              <a:rPr lang="zh-CN" altLang="en-US" sz="2800" dirty="0">
                <a:solidFill>
                  <a:srgbClr val="FF0000"/>
                </a:solidFill>
              </a:rPr>
              <a:t>不同人员</a:t>
            </a:r>
            <a:r>
              <a:rPr lang="zh-CN" altLang="en-US" sz="2800" dirty="0"/>
              <a:t>提交的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那么我们是否需要运行</a:t>
            </a:r>
            <a:r>
              <a:rPr lang="en-US" altLang="zh-CN" sz="2800" dirty="0">
                <a:solidFill>
                  <a:srgbClr val="FF0000"/>
                </a:solidFill>
              </a:rPr>
              <a:t>10</a:t>
            </a:r>
            <a:r>
              <a:rPr lang="zh-CN" altLang="en-US" sz="2800" dirty="0">
                <a:solidFill>
                  <a:srgbClr val="FF0000"/>
                </a:solidFill>
              </a:rPr>
              <a:t>次历史版本代码</a:t>
            </a:r>
            <a:r>
              <a:rPr lang="zh-CN" altLang="en-US" sz="2800" dirty="0"/>
              <a:t>以检验</a:t>
            </a:r>
            <a:r>
              <a:rPr lang="en-US" altLang="zh-CN" sz="2800" dirty="0"/>
              <a:t>Bug</a:t>
            </a:r>
            <a:r>
              <a:rPr lang="zh-CN" altLang="en-US" sz="2800" dirty="0"/>
              <a:t>引入的位置呢？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基于</a:t>
            </a:r>
            <a:r>
              <a:rPr lang="zh-CN" altLang="en-US" sz="2800" dirty="0">
                <a:solidFill>
                  <a:srgbClr val="FF0000"/>
                </a:solidFill>
              </a:rPr>
              <a:t>二分搜索</a:t>
            </a:r>
            <a:r>
              <a:rPr lang="zh-CN" altLang="en-US" sz="2800" dirty="0"/>
              <a:t>的思想，我们作一些分析，这个测试次数可以相对简化：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969828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二分搜索的应用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43271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800" dirty="0"/>
              <a:t>简单应用</a:t>
            </a:r>
            <a:r>
              <a:rPr lang="en-US" altLang="zh-CN" sz="2800" dirty="0"/>
              <a:t>:GitHub</a:t>
            </a:r>
            <a:r>
              <a:rPr lang="zh-CN" altLang="en-US" sz="2800" dirty="0"/>
              <a:t>提交</a:t>
            </a:r>
            <a:r>
              <a:rPr lang="en-US" altLang="zh-CN" sz="2800" dirty="0"/>
              <a:t>issue</a:t>
            </a:r>
          </a:p>
          <a:p>
            <a:pPr marL="0" indent="0">
              <a:buNone/>
            </a:pPr>
            <a:r>
              <a:rPr lang="zh-CN" altLang="en-US" sz="2800" dirty="0"/>
              <a:t>基本事实</a:t>
            </a:r>
            <a:r>
              <a:rPr lang="en-US" altLang="zh-CN" sz="2800" dirty="0"/>
              <a:t>:</a:t>
            </a:r>
          </a:p>
          <a:p>
            <a:pPr marL="0" indent="0"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在该</a:t>
            </a:r>
            <a:r>
              <a:rPr lang="en-US" altLang="zh-CN" sz="2800" dirty="0"/>
              <a:t>Bug</a:t>
            </a:r>
            <a:r>
              <a:rPr lang="zh-CN" altLang="en-US" sz="2800" dirty="0"/>
              <a:t>引入之前，该版本代码</a:t>
            </a:r>
            <a:r>
              <a:rPr lang="zh-CN" altLang="en-US" sz="2800" dirty="0">
                <a:solidFill>
                  <a:srgbClr val="FF0000"/>
                </a:solidFill>
              </a:rPr>
              <a:t>不会出现该问题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2.</a:t>
            </a:r>
            <a:r>
              <a:rPr lang="zh-CN" altLang="en-US" sz="2800" dirty="0"/>
              <a:t>在该</a:t>
            </a:r>
            <a:r>
              <a:rPr lang="en-US" altLang="zh-CN" sz="2800" dirty="0"/>
              <a:t>Bug</a:t>
            </a:r>
            <a:r>
              <a:rPr lang="zh-CN" altLang="en-US" sz="2800" dirty="0"/>
              <a:t>引入之后，该版本代码</a:t>
            </a:r>
            <a:r>
              <a:rPr lang="zh-CN" altLang="en-US" sz="2800" dirty="0">
                <a:solidFill>
                  <a:srgbClr val="FF0000"/>
                </a:solidFill>
              </a:rPr>
              <a:t>会出现该问题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3.GitHub issue</a:t>
            </a:r>
            <a:r>
              <a:rPr lang="zh-CN" altLang="en-US" sz="2800" dirty="0"/>
              <a:t>提交的</a:t>
            </a:r>
            <a:r>
              <a:rPr lang="zh-CN" altLang="en-US" sz="2800" dirty="0">
                <a:solidFill>
                  <a:srgbClr val="FF0000"/>
                </a:solidFill>
              </a:rPr>
              <a:t>次序是有先后</a:t>
            </a:r>
            <a:r>
              <a:rPr lang="zh-CN" altLang="en-US" sz="2800" dirty="0"/>
              <a:t>的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结论</a:t>
            </a:r>
            <a:r>
              <a:rPr lang="en-US" altLang="zh-CN" sz="2800" dirty="0"/>
              <a:t>:</a:t>
            </a:r>
          </a:p>
          <a:p>
            <a:pPr marL="0" indent="0">
              <a:buNone/>
            </a:pPr>
            <a:r>
              <a:rPr lang="zh-CN" altLang="en-US" sz="2800" dirty="0"/>
              <a:t>引入该</a:t>
            </a:r>
            <a:r>
              <a:rPr lang="en-US" altLang="zh-CN" sz="2800" dirty="0"/>
              <a:t>Bug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0000"/>
                </a:solidFill>
              </a:rPr>
              <a:t>那一次或者几次提交</a:t>
            </a:r>
            <a:r>
              <a:rPr lang="zh-CN" altLang="en-US" sz="2800" dirty="0"/>
              <a:t>总是位于</a:t>
            </a:r>
            <a:r>
              <a:rPr lang="zh-CN" altLang="en-US" sz="2800" dirty="0">
                <a:solidFill>
                  <a:srgbClr val="FF0000"/>
                </a:solidFill>
              </a:rPr>
              <a:t>不能复现的提交次数</a:t>
            </a:r>
            <a:r>
              <a:rPr lang="zh-CN" altLang="en-US" sz="2800" dirty="0"/>
              <a:t>之后，和总是</a:t>
            </a:r>
            <a:r>
              <a:rPr lang="zh-CN" altLang="en-US" sz="2800" dirty="0">
                <a:solidFill>
                  <a:srgbClr val="FF0000"/>
                </a:solidFill>
              </a:rPr>
              <a:t>能复现问题的提交次数</a:t>
            </a:r>
            <a:r>
              <a:rPr lang="zh-CN" altLang="en-US" sz="2800" dirty="0"/>
              <a:t>之前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181147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二分搜索的应用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432716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简单应用</a:t>
            </a:r>
            <a:r>
              <a:rPr lang="en-US" altLang="zh-CN" sz="2800" dirty="0"/>
              <a:t>:GitHub</a:t>
            </a:r>
            <a:r>
              <a:rPr lang="zh-CN" altLang="en-US" sz="2800" dirty="0"/>
              <a:t>提交</a:t>
            </a:r>
            <a:r>
              <a:rPr lang="en-US" altLang="zh-CN" sz="2800" dirty="0"/>
              <a:t>issue</a:t>
            </a:r>
          </a:p>
          <a:p>
            <a:pPr marL="0" indent="0">
              <a:buNone/>
            </a:pPr>
            <a:r>
              <a:rPr lang="zh-CN" altLang="en-US" sz="2800" dirty="0"/>
              <a:t>我们假设该</a:t>
            </a:r>
            <a:r>
              <a:rPr lang="en-US" altLang="zh-CN" sz="2800" dirty="0"/>
              <a:t>Bug</a:t>
            </a:r>
            <a:r>
              <a:rPr lang="zh-CN" altLang="en-US" sz="2800" dirty="0"/>
              <a:t>是一次提交引入的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将之前历史的</a:t>
            </a:r>
            <a:r>
              <a:rPr lang="zh-CN" altLang="en-US" sz="2800" dirty="0">
                <a:solidFill>
                  <a:srgbClr val="FF0000"/>
                </a:solidFill>
              </a:rPr>
              <a:t>提交列为</a:t>
            </a:r>
            <a:r>
              <a:rPr lang="en-US" altLang="zh-CN" sz="2800" dirty="0">
                <a:solidFill>
                  <a:srgbClr val="FF0000"/>
                </a:solidFill>
              </a:rPr>
              <a:t>1~10</a:t>
            </a:r>
            <a:r>
              <a:rPr lang="zh-CN" altLang="en-US" sz="2800" dirty="0">
                <a:solidFill>
                  <a:srgbClr val="FF0000"/>
                </a:solidFill>
              </a:rPr>
              <a:t>的数组</a:t>
            </a:r>
            <a:r>
              <a:rPr lang="zh-CN" altLang="en-US" sz="2800" dirty="0"/>
              <a:t>，我们的目标是</a:t>
            </a:r>
            <a:r>
              <a:rPr lang="zh-CN" altLang="en-US" sz="2800" dirty="0">
                <a:solidFill>
                  <a:srgbClr val="FF0000"/>
                </a:solidFill>
              </a:rPr>
              <a:t>查找引入</a:t>
            </a:r>
            <a:r>
              <a:rPr lang="en-US" altLang="zh-CN" sz="2800" dirty="0">
                <a:solidFill>
                  <a:srgbClr val="FF0000"/>
                </a:solidFill>
              </a:rPr>
              <a:t>Bug</a:t>
            </a:r>
            <a:r>
              <a:rPr lang="zh-CN" altLang="en-US" sz="2800" dirty="0"/>
              <a:t>的提交次数整数值：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则我们先开始</a:t>
            </a:r>
            <a:r>
              <a:rPr lang="zh-CN" altLang="en-US" sz="2800" dirty="0">
                <a:solidFill>
                  <a:srgbClr val="FF0000"/>
                </a:solidFill>
              </a:rPr>
              <a:t>测试</a:t>
            </a:r>
            <a:r>
              <a:rPr lang="en-US" altLang="zh-CN" sz="2800" dirty="0">
                <a:solidFill>
                  <a:srgbClr val="FF0000"/>
                </a:solidFill>
              </a:rPr>
              <a:t>5</a:t>
            </a:r>
            <a:r>
              <a:rPr lang="zh-CN" altLang="en-US" sz="2800" dirty="0"/>
              <a:t>的提交后版本：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若</a:t>
            </a:r>
            <a:r>
              <a:rPr lang="en-US" altLang="zh-CN" sz="2800" dirty="0"/>
              <a:t>5</a:t>
            </a:r>
            <a:r>
              <a:rPr lang="zh-CN" altLang="en-US" sz="2800" dirty="0"/>
              <a:t>复现了问题，则</a:t>
            </a:r>
            <a:r>
              <a:rPr lang="zh-CN" altLang="en-US" sz="2800" dirty="0">
                <a:solidFill>
                  <a:srgbClr val="FF0000"/>
                </a:solidFill>
              </a:rPr>
              <a:t>继续在</a:t>
            </a:r>
            <a:r>
              <a:rPr lang="en-US" altLang="zh-CN" sz="2800" dirty="0">
                <a:solidFill>
                  <a:srgbClr val="FF0000"/>
                </a:solidFill>
              </a:rPr>
              <a:t>[1,5]</a:t>
            </a:r>
            <a:r>
              <a:rPr lang="zh-CN" altLang="en-US" sz="2800" dirty="0"/>
              <a:t>的范围内查找</a:t>
            </a:r>
            <a:r>
              <a:rPr lang="en-US" altLang="zh-CN" sz="2800" dirty="0"/>
              <a:t>;</a:t>
            </a:r>
          </a:p>
          <a:p>
            <a:pPr marL="0" indent="0">
              <a:buNone/>
            </a:pPr>
            <a:r>
              <a:rPr lang="zh-CN" altLang="en-US" sz="2800" dirty="0"/>
              <a:t>若</a:t>
            </a:r>
            <a:r>
              <a:rPr lang="en-US" altLang="zh-CN" sz="2800" dirty="0"/>
              <a:t>5</a:t>
            </a:r>
            <a:r>
              <a:rPr lang="zh-CN" altLang="en-US" sz="2800" dirty="0"/>
              <a:t>未复现问题，则</a:t>
            </a:r>
            <a:r>
              <a:rPr lang="zh-CN" altLang="en-US" sz="2800" dirty="0">
                <a:solidFill>
                  <a:srgbClr val="FF0000"/>
                </a:solidFill>
              </a:rPr>
              <a:t>继续在</a:t>
            </a:r>
            <a:r>
              <a:rPr lang="en-US" altLang="zh-CN" sz="2800" dirty="0">
                <a:solidFill>
                  <a:srgbClr val="FF0000"/>
                </a:solidFill>
              </a:rPr>
              <a:t>[5,10]</a:t>
            </a:r>
            <a:r>
              <a:rPr lang="zh-CN" altLang="en-US" sz="2800" dirty="0"/>
              <a:t>的范围内查找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710819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9761A-6169-46EF-94D5-98A20F16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文本相似度计算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BC6B93-E3D0-409A-8AC0-A4642E6AE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2.1 </a:t>
            </a:r>
            <a:r>
              <a:rPr lang="zh-CN" altLang="en-US" sz="2400" dirty="0"/>
              <a:t>文本相似的基本概念</a:t>
            </a:r>
            <a:endParaRPr lang="en-US" altLang="zh-CN" sz="2400" dirty="0"/>
          </a:p>
          <a:p>
            <a:r>
              <a:rPr lang="en-US" altLang="zh-CN" sz="2400" dirty="0"/>
              <a:t>2.2 </a:t>
            </a:r>
            <a:r>
              <a:rPr lang="zh-CN" altLang="en-US" sz="2400" dirty="0"/>
              <a:t>文本相似度度量的几种方法</a:t>
            </a:r>
            <a:endParaRPr lang="en-US" altLang="zh-CN" sz="2400" dirty="0"/>
          </a:p>
          <a:p>
            <a:r>
              <a:rPr lang="en-US" altLang="zh-CN" sz="2400" dirty="0"/>
              <a:t>2.3 </a:t>
            </a:r>
            <a:r>
              <a:rPr lang="zh-CN" altLang="en-US" sz="2400" dirty="0"/>
              <a:t>文本相似度的实现</a:t>
            </a:r>
          </a:p>
        </p:txBody>
      </p:sp>
    </p:spTree>
    <p:extLst>
      <p:ext uri="{BB962C8B-B14F-4D97-AF65-F5344CB8AC3E}">
        <p14:creationId xmlns:p14="http://schemas.microsoft.com/office/powerpoint/2010/main" val="471788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文本相似的概念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431689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文本相似的基本概念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在实际应用中，有时候我们需要比较几段文本之间的相似程度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比如新闻应用中，面对</a:t>
            </a:r>
            <a:r>
              <a:rPr lang="zh-CN" altLang="en-US" sz="2800" dirty="0">
                <a:solidFill>
                  <a:srgbClr val="FF0000"/>
                </a:solidFill>
              </a:rPr>
              <a:t>源源不断产生的新闻流</a:t>
            </a:r>
            <a:r>
              <a:rPr lang="zh-CN" altLang="en-US" sz="2800" dirty="0"/>
              <a:t>，需要一种方式对它们进行</a:t>
            </a:r>
            <a:r>
              <a:rPr lang="zh-CN" altLang="en-US" sz="2800" dirty="0">
                <a:solidFill>
                  <a:srgbClr val="FF0000"/>
                </a:solidFill>
              </a:rPr>
              <a:t>自动聚合、归类</a:t>
            </a:r>
            <a:r>
              <a:rPr lang="zh-CN" altLang="en-US" sz="2800" dirty="0"/>
              <a:t>，而新闻的本质就是文本</a:t>
            </a:r>
            <a:r>
              <a:rPr lang="en-US" altLang="zh-CN" sz="2800" dirty="0"/>
              <a:t>(</a:t>
            </a:r>
            <a:r>
              <a:rPr lang="zh-CN" altLang="en-US" sz="2800" dirty="0"/>
              <a:t>那么实际上，</a:t>
            </a:r>
            <a:r>
              <a:rPr lang="zh-CN" altLang="en-US" sz="2800" dirty="0">
                <a:solidFill>
                  <a:srgbClr val="FF0000"/>
                </a:solidFill>
              </a:rPr>
              <a:t>新闻分类的本质就是文本分类</a:t>
            </a:r>
            <a:r>
              <a:rPr lang="zh-CN" altLang="en-US" sz="2800" dirty="0"/>
              <a:t>，分类即需要文本相似度的计算</a:t>
            </a:r>
            <a:r>
              <a:rPr lang="en-US" altLang="zh-CN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2369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文本</a:t>
            </a:r>
            <a:r>
              <a:rPr lang="zh-CN" altLang="en-US" sz="3600" dirty="0"/>
              <a:t>相似度度量的几种方法</a:t>
            </a:r>
            <a:br>
              <a:rPr lang="en-US" altLang="zh-CN" sz="3600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54" y="1583073"/>
            <a:ext cx="8596668" cy="5274927"/>
          </a:xfrm>
        </p:spPr>
        <p:txBody>
          <a:bodyPr>
            <a:normAutofit lnSpcReduction="10000"/>
          </a:bodyPr>
          <a:lstStyle/>
          <a:p>
            <a:r>
              <a:rPr lang="zh-CN" altLang="en-US" sz="2800" dirty="0"/>
              <a:t>文本相似的度量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纯文本相似度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比如一段文本</a:t>
            </a:r>
            <a:r>
              <a:rPr lang="en-US" altLang="zh-CN" sz="2800" dirty="0"/>
              <a:t>”AAAA”</a:t>
            </a:r>
            <a:r>
              <a:rPr lang="zh-CN" altLang="en-US" sz="2800" dirty="0"/>
              <a:t>与</a:t>
            </a:r>
            <a:r>
              <a:rPr lang="en-US" altLang="zh-CN" sz="2800" dirty="0"/>
              <a:t>”AAAB”</a:t>
            </a:r>
            <a:r>
              <a:rPr lang="zh-CN" altLang="en-US" sz="2800" dirty="0"/>
              <a:t>它们之间的</a:t>
            </a:r>
            <a:r>
              <a:rPr lang="zh-CN" altLang="en-US" sz="2800" dirty="0">
                <a:solidFill>
                  <a:srgbClr val="FF0000"/>
                </a:solidFill>
              </a:rPr>
              <a:t>相同字符串</a:t>
            </a:r>
            <a:r>
              <a:rPr lang="zh-CN" altLang="en-US" sz="2800" dirty="0"/>
              <a:t>有</a:t>
            </a:r>
            <a:r>
              <a:rPr lang="en-US" altLang="zh-CN" sz="2800" dirty="0"/>
              <a:t>”AAA”,</a:t>
            </a:r>
            <a:r>
              <a:rPr lang="zh-CN" altLang="en-US" sz="2800" dirty="0"/>
              <a:t>就可以定义相似度为</a:t>
            </a:r>
            <a:r>
              <a:rPr lang="en-US" altLang="zh-CN" sz="2800" dirty="0"/>
              <a:t>3/4 = 75%</a:t>
            </a:r>
          </a:p>
          <a:p>
            <a:pPr marL="0" indent="0">
              <a:buNone/>
            </a:pPr>
            <a:r>
              <a:rPr lang="en-US" altLang="zh-CN" sz="2800" dirty="0"/>
              <a:t>(</a:t>
            </a:r>
            <a:r>
              <a:rPr lang="zh-CN" altLang="en-US" sz="2800" dirty="0">
                <a:solidFill>
                  <a:srgbClr val="FF0000"/>
                </a:solidFill>
              </a:rPr>
              <a:t>相同字符串长度</a:t>
            </a:r>
            <a:r>
              <a:rPr lang="en-US" altLang="zh-CN" sz="2800" dirty="0">
                <a:solidFill>
                  <a:srgbClr val="FF0000"/>
                </a:solidFill>
              </a:rPr>
              <a:t>/((</a:t>
            </a:r>
            <a:r>
              <a:rPr lang="zh-CN" altLang="en-US" sz="2800" dirty="0">
                <a:solidFill>
                  <a:srgbClr val="FF0000"/>
                </a:solidFill>
              </a:rPr>
              <a:t>字符串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en-US" sz="2800" dirty="0">
                <a:solidFill>
                  <a:srgbClr val="FF0000"/>
                </a:solidFill>
              </a:rPr>
              <a:t>长度</a:t>
            </a:r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r>
              <a:rPr lang="zh-CN" altLang="en-US" sz="2800" dirty="0">
                <a:solidFill>
                  <a:srgbClr val="FF0000"/>
                </a:solidFill>
              </a:rPr>
              <a:t>字符串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zh-CN" altLang="en-US" sz="2800" dirty="0">
                <a:solidFill>
                  <a:srgbClr val="FF0000"/>
                </a:solidFill>
              </a:rPr>
              <a:t>长度</a:t>
            </a:r>
            <a:r>
              <a:rPr lang="en-US" altLang="zh-CN" sz="2800" dirty="0">
                <a:solidFill>
                  <a:srgbClr val="FF0000"/>
                </a:solidFill>
              </a:rPr>
              <a:t>)/2)</a:t>
            </a:r>
            <a:r>
              <a:rPr lang="en-US" altLang="zh-CN" sz="2800" dirty="0"/>
              <a:t>)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2.</a:t>
            </a:r>
            <a:r>
              <a:rPr lang="zh-CN" altLang="en-US" sz="2800" dirty="0"/>
              <a:t>语义上的相似度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比如“文在寅当选韩国总统”和“菅义伟成为日本首相”描述的都是</a:t>
            </a:r>
            <a:r>
              <a:rPr lang="zh-CN" altLang="en-US" sz="2800" dirty="0">
                <a:solidFill>
                  <a:srgbClr val="FF0000"/>
                </a:solidFill>
              </a:rPr>
              <a:t>国家最高领袖换届</a:t>
            </a:r>
            <a:r>
              <a:rPr lang="zh-CN" altLang="en-US" sz="2800" dirty="0"/>
              <a:t>这件事，但它们文本却不相同；</a:t>
            </a:r>
            <a:r>
              <a:rPr lang="zh-CN" altLang="en-US" sz="2800" dirty="0">
                <a:solidFill>
                  <a:srgbClr val="FF0000"/>
                </a:solidFill>
              </a:rPr>
              <a:t>语义上的相似性</a:t>
            </a:r>
            <a:r>
              <a:rPr lang="zh-CN" altLang="en-US" sz="2800" dirty="0"/>
              <a:t>涉及到文本的理解，属于</a:t>
            </a:r>
            <a:r>
              <a:rPr lang="en-US" altLang="zh-CN" sz="2800" dirty="0"/>
              <a:t>AI</a:t>
            </a:r>
            <a:r>
              <a:rPr lang="zh-CN" altLang="en-US" sz="2800" dirty="0"/>
              <a:t>领域自然语言处理的范畴</a:t>
            </a:r>
            <a:r>
              <a:rPr lang="en-US" altLang="zh-CN" sz="2800" dirty="0"/>
              <a:t>(</a:t>
            </a:r>
            <a:r>
              <a:rPr lang="zh-CN" altLang="en-US" sz="2800" dirty="0"/>
              <a:t>目前仍较难处理</a:t>
            </a:r>
            <a:r>
              <a:rPr lang="en-US" altLang="zh-CN" sz="2800" dirty="0"/>
              <a:t>)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028273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文本</a:t>
            </a:r>
            <a:r>
              <a:rPr lang="zh-CN" altLang="en-US" sz="3600" dirty="0"/>
              <a:t>相似度度量的几种方法</a:t>
            </a:r>
            <a:br>
              <a:rPr lang="en-US" altLang="zh-CN" sz="3600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54" y="1583073"/>
            <a:ext cx="8596668" cy="5274927"/>
          </a:xfrm>
        </p:spPr>
        <p:txBody>
          <a:bodyPr>
            <a:normAutofit lnSpcReduction="10000"/>
          </a:bodyPr>
          <a:lstStyle/>
          <a:p>
            <a:r>
              <a:rPr lang="zh-CN" altLang="en-US" sz="2800" dirty="0"/>
              <a:t>文本相似的度量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由于文本相似的定义不同，所以具体使用怎样的标准定义具体相似度的方法也是不同的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但在这些方法之外，具体怎样实现文本相似度的计算有一个相对标准的流程，即文本向量化</a:t>
            </a:r>
            <a:r>
              <a:rPr lang="en-US" altLang="zh-CN" sz="2800" dirty="0"/>
              <a:t>:</a:t>
            </a:r>
          </a:p>
          <a:p>
            <a:pPr marL="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）将文本按照一定的方法转换成</a:t>
            </a:r>
            <a:r>
              <a:rPr lang="zh-CN" altLang="en-US" sz="2800" dirty="0">
                <a:solidFill>
                  <a:srgbClr val="FF0000"/>
                </a:solidFill>
              </a:rPr>
              <a:t>数学向量</a:t>
            </a:r>
            <a:r>
              <a:rPr lang="en-US" altLang="zh-CN" sz="2800" dirty="0"/>
              <a:t>(</a:t>
            </a:r>
            <a:r>
              <a:rPr lang="zh-CN" altLang="en-US" sz="2800" dirty="0"/>
              <a:t>在编程中，向量的值可用数组实现</a:t>
            </a:r>
            <a:r>
              <a:rPr lang="en-US" altLang="zh-CN" sz="2800" dirty="0"/>
              <a:t>)</a:t>
            </a:r>
          </a:p>
          <a:p>
            <a:pPr marL="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）对向量进行</a:t>
            </a:r>
            <a:r>
              <a:rPr lang="zh-CN" altLang="en-US" sz="2800" dirty="0">
                <a:solidFill>
                  <a:srgbClr val="FF0000"/>
                </a:solidFill>
              </a:rPr>
              <a:t>归一化处理</a:t>
            </a:r>
            <a:r>
              <a:rPr lang="zh-CN" altLang="en-US" sz="2800" dirty="0"/>
              <a:t>（保证向量的模为</a:t>
            </a:r>
            <a:r>
              <a:rPr lang="en-US" altLang="zh-CN" sz="2800" dirty="0"/>
              <a:t>1</a:t>
            </a:r>
            <a:r>
              <a:rPr lang="zh-CN" altLang="en-US" sz="2800" dirty="0"/>
              <a:t>，这是为了计算的稳定性）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）按照一定标准计算文本向量的相似度（比如计算</a:t>
            </a:r>
            <a:r>
              <a:rPr lang="zh-CN" altLang="en-US" sz="2800" dirty="0">
                <a:solidFill>
                  <a:srgbClr val="FF0000"/>
                </a:solidFill>
              </a:rPr>
              <a:t>余弦相似度</a:t>
            </a:r>
            <a:r>
              <a:rPr lang="zh-CN" altLang="en-US" sz="2800" dirty="0"/>
              <a:t>）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717401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文本</a:t>
            </a:r>
            <a:r>
              <a:rPr lang="zh-CN" altLang="en-US" sz="3600" dirty="0"/>
              <a:t>相似度的几种</a:t>
            </a:r>
            <a:r>
              <a:rPr lang="zh-CN" altLang="en-US" dirty="0"/>
              <a:t>实现</a:t>
            </a:r>
            <a:br>
              <a:rPr lang="en-US" altLang="zh-CN" sz="3600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54" y="1583073"/>
            <a:ext cx="8596668" cy="5274927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文本相似的几种实现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在</a:t>
            </a:r>
            <a:r>
              <a:rPr lang="en-US" altLang="zh-CN" sz="2800" dirty="0"/>
              <a:t>python</a:t>
            </a:r>
            <a:r>
              <a:rPr lang="zh-CN" altLang="en-US" sz="2800" dirty="0"/>
              <a:t>开源库</a:t>
            </a:r>
            <a:r>
              <a:rPr lang="en-US" altLang="zh-CN" sz="2800" dirty="0" err="1"/>
              <a:t>sklearn</a:t>
            </a:r>
            <a:r>
              <a:rPr lang="en-US" altLang="zh-CN" sz="2800" dirty="0"/>
              <a:t>(https://scikit-learn.org/stable/modules/classes.html#module-sklearn.feature_extraction.text)</a:t>
            </a:r>
            <a:r>
              <a:rPr lang="zh-CN" altLang="en-US" sz="2800" dirty="0"/>
              <a:t>中，定义了对文本相似度实现了文本相似度计算的一些简单定义：</a:t>
            </a:r>
            <a:endParaRPr lang="en-US" altLang="zh-CN" sz="2800" dirty="0"/>
          </a:p>
          <a:p>
            <a:pPr marL="514350" indent="-514350">
              <a:buAutoNum type="arabicParenBoth"/>
            </a:pPr>
            <a:r>
              <a:rPr lang="en-US" altLang="zh-CN" sz="2800" dirty="0"/>
              <a:t>CountVectorizer</a:t>
            </a:r>
            <a:r>
              <a:rPr lang="zh-CN" altLang="en-US" sz="2800" dirty="0"/>
              <a:t>词频向量化</a:t>
            </a:r>
            <a:endParaRPr lang="en-US" altLang="zh-CN" sz="2800" dirty="0"/>
          </a:p>
          <a:p>
            <a:pPr marL="514350" indent="-514350">
              <a:buAutoNum type="arabicParenBoth"/>
            </a:pPr>
            <a:r>
              <a:rPr lang="en-US" altLang="zh-CN" sz="2800" dirty="0" err="1"/>
              <a:t>HashingVectorizer</a:t>
            </a:r>
            <a:r>
              <a:rPr lang="zh-CN" altLang="en-US" sz="2800" dirty="0"/>
              <a:t>哈希向量化</a:t>
            </a:r>
            <a:endParaRPr lang="en-US" altLang="zh-CN" sz="2800" dirty="0"/>
          </a:p>
          <a:p>
            <a:pPr marL="514350" indent="-514350">
              <a:buAutoNum type="arabicParenBoth"/>
            </a:pPr>
            <a:r>
              <a:rPr lang="en-US" altLang="zh-CN" sz="2800" dirty="0" err="1"/>
              <a:t>TfidfVectorizer</a:t>
            </a:r>
            <a:r>
              <a:rPr lang="en-US" altLang="zh-CN" sz="2800" dirty="0"/>
              <a:t> TF-IDF</a:t>
            </a:r>
            <a:r>
              <a:rPr lang="zh-CN" altLang="en-US" sz="2800" dirty="0"/>
              <a:t>向量化</a:t>
            </a:r>
            <a:endParaRPr lang="en-US" altLang="zh-CN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F207A4-E0ED-49A8-8900-7033B20FE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sng" strike="noStrike" cap="none" normalizeH="0" baseline="0">
                <a:ln>
                  <a:noFill/>
                </a:ln>
                <a:solidFill>
                  <a:srgbClr val="2878A2"/>
                </a:solidFill>
                <a:effectLst/>
                <a:latin typeface="Arial Unicode MS"/>
                <a:ea typeface="SFMono-Regular"/>
                <a:hlinkClick r:id="rId2" tooltip="sklearn.feature_extraction.text.HashingVectorizer"/>
              </a:rPr>
              <a:t>HashingVectorizer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60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C070-02BF-4150-A578-1B3B434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文本</a:t>
            </a:r>
            <a:r>
              <a:rPr lang="zh-CN" altLang="en-US" sz="3600" dirty="0"/>
              <a:t>相似度的几种</a:t>
            </a:r>
            <a:r>
              <a:rPr lang="zh-CN" altLang="en-US" dirty="0"/>
              <a:t>实现</a:t>
            </a:r>
            <a:br>
              <a:rPr lang="en-US" altLang="zh-CN" sz="3600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2744-AD5A-4318-8DF5-F7002338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53" y="1583074"/>
            <a:ext cx="8870927" cy="5058358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CountVectorizer</a:t>
            </a:r>
            <a:r>
              <a:rPr lang="zh-CN" altLang="en-US" sz="2800" dirty="0"/>
              <a:t>词频向量化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000" dirty="0"/>
              <a:t>输入文本</a:t>
            </a:r>
            <a:r>
              <a:rPr lang="en-US" altLang="zh-CN" sz="2000" dirty="0"/>
              <a:t>:[‘This is the first </a:t>
            </a:r>
            <a:r>
              <a:rPr lang="en-US" altLang="zh-CN" sz="2000" dirty="0" err="1"/>
              <a:t>document.’,‘This</a:t>
            </a:r>
            <a:r>
              <a:rPr lang="en-US" altLang="zh-CN" sz="2000" dirty="0"/>
              <a:t> document is the second document.’, ‘And this is the third one.’, ‘Is this the first document?‘]</a:t>
            </a:r>
          </a:p>
          <a:p>
            <a:pPr marL="0" indent="0">
              <a:buNone/>
            </a:pPr>
            <a:r>
              <a:rPr lang="zh-CN" altLang="en-US" sz="2000" dirty="0"/>
              <a:t>分词后的单词序列</a:t>
            </a:r>
            <a:r>
              <a:rPr lang="en-US" altLang="zh-CN" sz="2000" dirty="0"/>
              <a:t>:</a:t>
            </a:r>
          </a:p>
          <a:p>
            <a:pPr marL="0" indent="0">
              <a:buNone/>
            </a:pPr>
            <a:r>
              <a:rPr lang="en-US" altLang="zh-CN" sz="2000" dirty="0"/>
              <a:t>['and', 'document', 'first', 'is', 'one', 'second', 'the', 'third', 'this’]</a:t>
            </a:r>
          </a:p>
          <a:p>
            <a:pPr marL="0" indent="0">
              <a:buNone/>
            </a:pPr>
            <a:r>
              <a:rPr lang="zh-CN" altLang="en-US" sz="2000" dirty="0"/>
              <a:t>根据单词向量化后的结果</a:t>
            </a:r>
            <a:r>
              <a:rPr lang="en-US" altLang="zh-CN" sz="2000" dirty="0"/>
              <a:t>:</a:t>
            </a:r>
          </a:p>
          <a:p>
            <a:pPr marL="0" indent="0">
              <a:buNone/>
            </a:pPr>
            <a:r>
              <a:rPr lang="zh-CN" altLang="en-US" sz="2000" dirty="0"/>
              <a:t> </a:t>
            </a:r>
            <a:r>
              <a:rPr lang="en-US" altLang="zh-CN" sz="2000" dirty="0"/>
              <a:t>[[0 1 1 1 0 0 1 0 1]</a:t>
            </a:r>
          </a:p>
          <a:p>
            <a:pPr marL="0" indent="0">
              <a:buNone/>
            </a:pPr>
            <a:r>
              <a:rPr lang="en-US" altLang="zh-CN" sz="2000" dirty="0"/>
              <a:t> [0 2 0 1 0 1 1 0 1]</a:t>
            </a:r>
          </a:p>
          <a:p>
            <a:pPr marL="0" indent="0">
              <a:buNone/>
            </a:pPr>
            <a:r>
              <a:rPr lang="en-US" altLang="zh-CN" sz="2000" dirty="0"/>
              <a:t> [1 0 0 1 1 0 1 1 1]</a:t>
            </a:r>
          </a:p>
          <a:p>
            <a:pPr marL="0" indent="0">
              <a:buNone/>
            </a:pPr>
            <a:r>
              <a:rPr lang="en-US" altLang="zh-CN" sz="2000" dirty="0"/>
              <a:t> [0 1 1 1 0 0 1 0 1]]</a:t>
            </a:r>
          </a:p>
          <a:p>
            <a:pPr marL="0" indent="0">
              <a:buNone/>
            </a:pPr>
            <a:r>
              <a:rPr lang="zh-CN" altLang="en-US" sz="2800" dirty="0"/>
              <a:t>词频向量化根据分词结果得到的单词频次，生成词向量</a:t>
            </a:r>
            <a:endParaRPr lang="en-US" altLang="zh-CN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F207A4-E0ED-49A8-8900-7033B20FE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sng" strike="noStrike" cap="none" normalizeH="0" baseline="0">
                <a:ln>
                  <a:noFill/>
                </a:ln>
                <a:solidFill>
                  <a:srgbClr val="2878A2"/>
                </a:solidFill>
                <a:effectLst/>
                <a:latin typeface="Arial Unicode MS"/>
                <a:ea typeface="SFMono-Regular"/>
                <a:hlinkClick r:id="rId2" tooltip="sklearn.feature_extraction.text.HashingVectorizer"/>
              </a:rPr>
              <a:t>HashingVectorizer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109251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271</TotalTime>
  <Words>1227</Words>
  <Application>Microsoft Office PowerPoint</Application>
  <PresentationFormat>宽屏</PresentationFormat>
  <Paragraphs>117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Arial Unicode MS</vt:lpstr>
      <vt:lpstr>Arial</vt:lpstr>
      <vt:lpstr>Trebuchet MS</vt:lpstr>
      <vt:lpstr>Wingdings 3</vt:lpstr>
      <vt:lpstr>平面</vt:lpstr>
      <vt:lpstr>日常算法应用</vt:lpstr>
      <vt:lpstr>1.二分搜索</vt:lpstr>
      <vt:lpstr>1.1 二分搜索的思想</vt:lpstr>
      <vt:lpstr>1.2 二分搜索的条件与流程</vt:lpstr>
      <vt:lpstr>1.2 二分搜索的条件与流程</vt:lpstr>
      <vt:lpstr>1.2 二分搜索的条件与流程</vt:lpstr>
      <vt:lpstr>1.3 二分搜索的应用</vt:lpstr>
      <vt:lpstr>1.3 二分搜索的应用</vt:lpstr>
      <vt:lpstr>1.3 二分搜索的应用</vt:lpstr>
      <vt:lpstr>1.3 二分搜索的应用</vt:lpstr>
      <vt:lpstr>2.文本相似度计算</vt:lpstr>
      <vt:lpstr>2.1 文本相似的概念</vt:lpstr>
      <vt:lpstr>2.2 文本相似度度量的几种方法 </vt:lpstr>
      <vt:lpstr>2.2 文本相似度度量的几种方法 </vt:lpstr>
      <vt:lpstr>2.3 文本相似度的几种实现 </vt:lpstr>
      <vt:lpstr>2.3 文本相似度的几种实现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日常算法应用</dc:title>
  <dc:creator>ke luo</dc:creator>
  <cp:lastModifiedBy>ke luo</cp:lastModifiedBy>
  <cp:revision>24</cp:revision>
  <dcterms:created xsi:type="dcterms:W3CDTF">2020-12-20T11:56:39Z</dcterms:created>
  <dcterms:modified xsi:type="dcterms:W3CDTF">2020-12-20T16:27:42Z</dcterms:modified>
</cp:coreProperties>
</file>